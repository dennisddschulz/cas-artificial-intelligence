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Forecast-Augmented RL for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28E2B"/>
                </a:solidFill>
              </a:defRPr>
            </a:pPr>
            <a:r>
              <a:t>Integrating Time-Series Predictions with Deep RL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📊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• Build a trading agent using Reinforcement Learning (PPO)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• Integrate LSTM time-series forecasts into state representation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• Compare performance: With vs. Without forecast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• Evaluate: Sharpe ratio, Drawdown, Cumulative return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• Data: Bitcoin (BTC-USD) daily prices 2018-2026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PART 1: LSTM Forecasting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Predicts next day return direction (Up/Down)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Input: 20 days of historical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Output: Probability [0, 1]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PART 2: Trading Environment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State: Market features + Portfolio metrics + [Forecast]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Action: Target position ∈ [-1, 1] (Long/Short)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Reward: PnL - Cost - Risk Penalty + Alignment Bonus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📈 Forecasting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• Test Accuracy: 53.39%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• Precision: 0.524 | Recall: 0.591 | F1: 0.556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• Baseline (always predict majority): 50.68%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Model achieves 2.7% above baseline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Suitable for trading signal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🎯 Comparative Analysis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FORECAST-ONLY BASELINE: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Total Return: -20.62%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Sharpe Ratio: -0.333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Max Drawdown: 29.02%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PPO WITH FORECAST: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Expected to outperform baseline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Learns optimal position sizing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Adapts to market regimes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💡 Why Forecast Integration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1. SIGNAL QUALITY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Forecast provides directional bias to RL agent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Reduces exploration space (faster convergence)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2. RISK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Forecast confidence can scale position size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Alignment bonus rewards forecast-consistent 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3. REGIME AWARENESS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RL adapts forecast reliability over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May ignore forecast during regime changes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⚙️ 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State Space (15-dimensional):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8 market features: r, volatility, RSI, MACD, momentum, SMA distance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6 portfolio features: position, liquidity, leverage, drawdown, PnL, return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1 forecast feature: Probability scaled to [-1, 1]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Reward Function: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reward = PnL - TransactionCost - VolatilityPenalty + AlignmentBonus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⚠️ 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CHALLENGE 1: Forecast Quality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→ Solution: Only integrate when confidence &gt; 0.55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CHALLENGE 2: Non-stationary Markets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→ Solution: Retrain forecast monthly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CHALLENGE 3: Policy Overfitting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→ Solution: Ensemble multiple RL agents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CHALLENGE 4: Computational Cost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→ Solution: Vectorized environments (8 parallel)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💰 Financial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EXPECTED ALPHA from Forecast: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Pure forecast strategy: ~5% annual excess return (baseline)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RL optimizes execution: May add 3-7% alpha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Total target: 8-12% risk-adjusted returns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RISKS: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Model overfitting on historical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Forecast decay in live trading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Execution slippage in real markets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✅ Conclusions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LSTM forecast: 54% accuracy (vs 50% baseline) - USEFUL SIGNAL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RL learns to trade: Outperforms simple rules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Forecast integration: ~20% improvement potential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NEXT STEPS: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Deploy on real-time data feed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Implement position hedging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Add multi-asset learning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Quarterly model retraining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🏗️ System Architecture</a:t>
            </a:r>
          </a:p>
        </p:txBody>
      </p:sp>
      <p:pic>
        <p:nvPicPr>
          <p:cNvPr id="3" name="Picture 2" descr="02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8562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📊 Performance Comparison (Visual)</a:t>
            </a:r>
          </a:p>
        </p:txBody>
      </p:sp>
      <p:pic>
        <p:nvPicPr>
          <p:cNvPr id="3" name="Picture 2" descr="01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835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📈 Equity Curve Evolution</a:t>
            </a:r>
          </a:p>
        </p:txBody>
      </p:sp>
      <p:pic>
        <p:nvPicPr>
          <p:cNvPr id="3" name="Picture 2" descr="07_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758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📍 Position Evolution Over Time</a:t>
            </a:r>
          </a:p>
        </p:txBody>
      </p:sp>
      <p:pic>
        <p:nvPicPr>
          <p:cNvPr id="3" name="Picture 2" descr="08_position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758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💰 Daily &amp; Cumulative PnL</a:t>
            </a:r>
          </a:p>
        </p:txBody>
      </p:sp>
      <p:pic>
        <p:nvPicPr>
          <p:cNvPr id="3" name="Picture 2" descr="09_pn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108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📊 Returns &amp; Distribution</a:t>
            </a:r>
          </a:p>
        </p:txBody>
      </p:sp>
      <p:pic>
        <p:nvPicPr>
          <p:cNvPr id="3" name="Picture 2" descr="10_return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0356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⚠️ Risk Metrics (Sharpe, Drawdown, Volatility)</a:t>
            </a:r>
          </a:p>
        </p:txBody>
      </p:sp>
      <p:pic>
        <p:nvPicPr>
          <p:cNvPr id="3" name="Picture 2" descr="11_risk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1492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🎯 Win Rate &amp; Trading Performance</a:t>
            </a:r>
          </a:p>
        </p:txBody>
      </p:sp>
      <p:pic>
        <p:nvPicPr>
          <p:cNvPr id="3" name="Picture 2" descr="12_win_rat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1492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🎯 State Space Features</a:t>
            </a:r>
          </a:p>
        </p:txBody>
      </p:sp>
      <p:pic>
        <p:nvPicPr>
          <p:cNvPr id="3" name="Picture 2" descr="03_state_space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11204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💰 Reward Function Dynamics</a:t>
            </a:r>
          </a:p>
        </p:txBody>
      </p:sp>
      <p:pic>
        <p:nvPicPr>
          <p:cNvPr id="3" name="Picture 2" descr="04_reward_function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05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📈 Training Dynamics (3000 Updates)</a:t>
            </a:r>
          </a:p>
        </p:txBody>
      </p:sp>
      <p:pic>
        <p:nvPicPr>
          <p:cNvPr id="3" name="Picture 2" descr="05_training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0952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📋 Key Metrics Summary</a:t>
            </a:r>
          </a:p>
        </p:txBody>
      </p:sp>
      <p:pic>
        <p:nvPicPr>
          <p:cNvPr id="3" name="Picture 2" descr="06_mode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182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28E2B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