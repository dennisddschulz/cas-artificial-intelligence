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TD-Fehler Analyse in Taxi-v3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4F81BD"/>
                </a:solidFill>
              </a:defRPr>
            </a:pPr>
            <a:r>
              <a:t>Empirischer Vergleich: SARSA vs Q-Learning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Slide 1: Taxi-v3 Umgebung &amp; TD-Fehler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840480" cy="5303520"/>
          </a:xfrm>
          <a:prstGeom prst="roundRect">
            <a:avLst/>
          </a:prstGeom>
          <a:solidFill>
            <a:srgbClr val="DCEBFA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474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81BD"/>
                </a:solidFill>
              </a:defRPr>
            </a:pPr>
            <a:r>
              <a:t>🚕 Taxi-v3 Umgebung</a:t>
            </a:r>
          </a:p>
          <a:p>
            <a:br/>
            <a:pPr>
              <a:defRPr sz="1300">
                <a:solidFill>
                  <a:srgbClr val="595959"/>
                </a:solidFill>
              </a:defRPr>
            </a:pPr>
            <a:r>
              <a:t>5×5 Gitter mit Taxi</a:t>
            </a:r>
          </a:p>
          <a:p>
            <a:pPr>
              <a:defRPr sz="1300">
                <a:solidFill>
                  <a:srgbClr val="595959"/>
                </a:solidFill>
              </a:defRPr>
            </a:pPr>
            <a:r>
              <a:t>Passagier &amp; Ziel</a:t>
            </a:r>
          </a:p>
          <a:p>
            <a:br/>
            <a:pPr>
              <a:defRPr sz="1300">
                <a:solidFill>
                  <a:srgbClr val="595959"/>
                </a:solidFill>
              </a:defRPr>
            </a:pPr>
            <a:r>
              <a:t>📊 Zustände: 500</a:t>
            </a:r>
          </a:p>
          <a:p>
            <a:pPr>
              <a:defRPr sz="1300">
                <a:solidFill>
                  <a:srgbClr val="595959"/>
                </a:solidFill>
              </a:defRPr>
            </a:pPr>
            <a:r>
              <a:t>Aktionen: 6</a:t>
            </a:r>
          </a:p>
          <a:p>
            <a:br/>
            <a:pPr>
              <a:defRPr sz="1300">
                <a:solidFill>
                  <a:srgbClr val="595959"/>
                </a:solidFill>
              </a:defRPr>
            </a:pPr>
            <a:r>
              <a:t>💰 Rewards:</a:t>
            </a:r>
          </a:p>
          <a:p>
            <a:pPr>
              <a:defRPr sz="1300">
                <a:solidFill>
                  <a:srgbClr val="595959"/>
                </a:solidFill>
              </a:defRPr>
            </a:pPr>
            <a:r>
              <a:t>−1 pro Schritt</a:t>
            </a:r>
          </a:p>
          <a:p>
            <a:pPr>
              <a:defRPr sz="1300">
                <a:solidFill>
                  <a:srgbClr val="595959"/>
                </a:solidFill>
              </a:defRPr>
            </a:pPr>
            <a:r>
              <a:t>+20 Erfolg</a:t>
            </a:r>
          </a:p>
          <a:p>
            <a:br/>
            <a:pPr>
              <a:defRPr sz="1300">
                <a:solidFill>
                  <a:srgbClr val="595959"/>
                </a:solidFill>
              </a:defRPr>
            </a:pPr>
            <a:r>
              <a:t>✓ Deterministisch</a:t>
            </a:r>
          </a:p>
          <a:p>
            <a:pPr>
              <a:defRPr sz="1300">
                <a:solidFill>
                  <a:srgbClr val="595959"/>
                </a:solidFill>
              </a:defRPr>
            </a:pPr>
            <a:r>
              <a:t>(Keine Stochastik)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97280"/>
            <a:ext cx="3840480" cy="5303520"/>
          </a:xfrm>
          <a:prstGeom prst="roundRect">
            <a:avLst/>
          </a:prstGeom>
          <a:solidFill>
            <a:srgbClr val="FFF0DC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3474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0000"/>
                </a:solidFill>
              </a:defRPr>
            </a:pPr>
            <a:r>
              <a:t>TD-Fehler Definition</a:t>
            </a:r>
          </a:p>
          <a:p>
            <a:br/>
            <a:pPr>
              <a:defRPr sz="1300">
                <a:solidFill>
                  <a:srgbClr val="595959"/>
                </a:solidFill>
              </a:defRPr>
            </a:pPr>
            <a:r>
              <a:t>Differenz zwischen</a:t>
            </a:r>
          </a:p>
          <a:p>
            <a:pPr>
              <a:defRPr sz="1300">
                <a:solidFill>
                  <a:srgbClr val="595959"/>
                </a:solidFill>
              </a:defRPr>
            </a:pPr>
            <a:r>
              <a:t>geschätztem und</a:t>
            </a:r>
          </a:p>
          <a:p>
            <a:pPr>
              <a:defRPr sz="1300">
                <a:solidFill>
                  <a:srgbClr val="595959"/>
                </a:solidFill>
              </a:defRPr>
            </a:pPr>
            <a:r>
              <a:t>echtem Wert</a:t>
            </a:r>
          </a:p>
          <a:p>
            <a:br/>
            <a:pPr>
              <a:defRPr sz="1300">
                <a:solidFill>
                  <a:srgbClr val="595959"/>
                </a:solidFill>
              </a:defRPr>
            </a:pPr>
            <a:r>
              <a:t>δ = R + γV(S') − V(S)</a:t>
            </a:r>
          </a:p>
          <a:p>
            <a:br/>
            <a:pPr>
              <a:defRPr sz="1300">
                <a:solidFill>
                  <a:srgbClr val="595959"/>
                </a:solidFill>
              </a:defRPr>
            </a:pPr>
            <a:r>
              <a:t>SARSA:</a:t>
            </a:r>
          </a:p>
          <a:p>
            <a:pPr>
              <a:defRPr sz="1300">
                <a:solidFill>
                  <a:srgbClr val="595959"/>
                </a:solidFill>
              </a:defRPr>
            </a:pPr>
            <a:r>
              <a:t>V(S') = aktuelle Policy</a:t>
            </a:r>
          </a:p>
          <a:p>
            <a:br/>
            <a:pPr>
              <a:defRPr sz="1300">
                <a:solidFill>
                  <a:srgbClr val="595959"/>
                </a:solidFill>
              </a:defRPr>
            </a:pPr>
            <a:r>
              <a:t>Q-Learning:</a:t>
            </a:r>
          </a:p>
          <a:p>
            <a:pPr>
              <a:defRPr sz="1300">
                <a:solidFill>
                  <a:srgbClr val="595959"/>
                </a:solidFill>
              </a:defRPr>
            </a:pPr>
            <a:r>
              <a:t>V(S') = beste mögliche</a:t>
            </a:r>
          </a:p>
          <a:p>
            <a:pPr>
              <a:defRPr sz="1300">
                <a:solidFill>
                  <a:srgbClr val="595959"/>
                </a:solidFill>
              </a:defRPr>
            </a:pPr>
            <a:r>
              <a:t>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Slide 2: TD-Fehler Verteilungen (Echte Daten)</a:t>
            </a:r>
          </a:p>
        </p:txBody>
      </p:sp>
      <p:pic>
        <p:nvPicPr>
          <p:cNvPr id="4" name="Picture 3" descr="C_03_TD_Error_Histograms_Start_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704023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303520"/>
            <a:ext cx="8229600" cy="1280160"/>
          </a:xfrm>
          <a:prstGeom prst="roundRect">
            <a:avLst/>
          </a:prstGeom>
          <a:solidFill>
            <a:srgbClr val="FFFAC8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6400"/>
                </a:solidFill>
              </a:defRPr>
            </a:pPr>
            <a:r>
              <a:t>📊 Links (Anfang): Große Fehler (wenig trainiert) | Rechts (Ende): Kleine Fehler (konvergiert)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SARSA: Konzentriert um −1.0  |  Q-Learning: Breiter verteilt, näher an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Slide 3: TD-Fehler über Zeit (Konvergenz)</a:t>
            </a:r>
          </a:p>
        </p:txBody>
      </p:sp>
      <p:pic>
        <p:nvPicPr>
          <p:cNvPr id="4" name="Picture 3" descr="C_04_TD_Error_TimeSeries_MovingA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11933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303520"/>
            <a:ext cx="8229600" cy="1280160"/>
          </a:xfrm>
          <a:prstGeom prst="roundRect">
            <a:avLst/>
          </a:prstGeom>
          <a:solidFill>
            <a:srgbClr val="DCF5DC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050"/>
                </a:solidFill>
              </a:defRPr>
            </a:pPr>
            <a:r>
              <a:t>⚡ Konvergenzgeschwindigkeit: Q-Learning erreicht stabilen Fehler ~40-50% schneller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SARSA: Sanfter, stabiler Anstieg | Q-Learning: Schnelle Reduktion mit Schwankungen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Slide 4: Fehleranalyse (Signed vs Absolute)</a:t>
            </a:r>
          </a:p>
        </p:txBody>
      </p:sp>
      <p:pic>
        <p:nvPicPr>
          <p:cNvPr id="4" name="Picture 3" descr="C_05_TD_Error_Signed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10124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303520"/>
            <a:ext cx="8229600" cy="1280160"/>
          </a:xfrm>
          <a:prstGeom prst="roundRect">
            <a:avLst/>
          </a:prstGeom>
          <a:solidFill>
            <a:srgbClr val="FFE6C8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0000"/>
                </a:solidFill>
              </a:defRPr>
            </a:pPr>
            <a:r>
              <a:t>🔍 Key Insight: Q-Learning hat größere Fehler, aber konvergiert zu besserer Policy!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Größer ≠ Schlechter! Es zeigt Aggressivität beim Lernen, nicht Schlechtheit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Slide 5: Zusammenfassung &amp; Vergleich</a:t>
            </a:r>
          </a:p>
        </p:txBody>
      </p:sp>
      <p:pic>
        <p:nvPicPr>
          <p:cNvPr id="4" name="Picture 3" descr="C_06_TD_Error_Summar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84558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303520"/>
            <a:ext cx="8229600" cy="128016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📊 Metriken: SARSA (85% Success) vs Q-Learning (92% Success) | Speedup: 40-50%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Konvergenz: SARSA (~8k-10k) vs Q-Learning (~5k-6k Episoden)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Slide 6: Praktische Empfehlung für Taxi-v3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F81BD"/>
                </a:solidFill>
              </a:defRPr>
            </a:pPr>
            <a:r>
              <a:t>SARSA (On-Policy)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95959"/>
                </a:solidFill>
              </a:defRPr>
            </a:pPr>
            <a:r>
              <a:t>✓ Stabil &amp; vorhersehbar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95959"/>
                </a:solidFill>
              </a:defRPr>
            </a:pPr>
            <a:r>
              <a:t>✓ Kleine konsistente Fehler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95959"/>
                </a:solidFill>
              </a:defRPr>
            </a:pPr>
            <a:r>
              <a:t>✓ 85% Erfolgsrate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95959"/>
                </a:solidFill>
              </a:defRPr>
            </a:pPr>
            <a:r>
              <a:t>✓ Gut für Safety-Kritisches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95959"/>
                </a:solidFill>
              </a:defRPr>
            </a:pPr>
            <a:r>
              <a:t>✗ Langsamer (8-10k Episodes)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95959"/>
                </a:solidFill>
              </a:defRPr>
            </a:pPr>
            <a:r>
              <a:t>✗ Konservativ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0000"/>
                </a:solidFill>
              </a:defRPr>
            </a:pPr>
            <a:r>
              <a:t>Q-Learning (Off-Policy)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554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95959"/>
                </a:solidFill>
              </a:defRPr>
            </a:pPr>
            <a:r>
              <a:t>✓ Schneller (5-6k Episodes)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96596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95959"/>
                </a:solidFill>
              </a:defRPr>
            </a:pPr>
            <a:r>
              <a:t>✓ 92% Erfolgsrate (+7%)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774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95959"/>
                </a:solidFill>
              </a:defRPr>
            </a:pPr>
            <a:r>
              <a:t>✓ Bessere finale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78892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95959"/>
                </a:solidFill>
              </a:defRPr>
            </a:pPr>
            <a:r>
              <a:t>✓ Aggressives Lernen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004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846320" y="34290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95959"/>
                </a:solidFill>
              </a:defRPr>
            </a:pPr>
            <a:r>
              <a:t>✗ Chaotischer während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840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95959"/>
                </a:solidFill>
              </a:defRPr>
            </a:pPr>
            <a:r>
              <a:t>✗ Größere Fehler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669280"/>
            <a:ext cx="8229600" cy="914400"/>
          </a:xfrm>
          <a:prstGeom prst="roundRect">
            <a:avLst/>
          </a:prstGeom>
          <a:solidFill>
            <a:srgbClr val="DCF5DC"/>
          </a:solidFill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80644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B050"/>
                </a:solidFill>
              </a:defRPr>
            </a:pPr>
            <a:r>
              <a:t>⭐ FÜR TAXI-V3: Q-LEARNING IST OPTIMAL! 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Slide 7: Fazit - Kernerkenntnisse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F81BD"/>
                </a:solidFill>
              </a:defRPr>
            </a:pPr>
            <a:r>
              <a:t>1️⃣ TD-Fehler ≠ Qualität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95959"/>
                </a:solidFill>
              </a:defRPr>
            </a:pPr>
            <a:r>
              <a:t>Größere Fehler können schnelleres Lernen bedeuten (Q-Learning)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00000"/>
                </a:solidFill>
              </a:defRPr>
            </a:pPr>
            <a:r>
              <a:t>2️⃣ Taxi-v3 ist Deterministisch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95959"/>
                </a:solidFill>
              </a:defRPr>
            </a:pPr>
            <a:r>
              <a:t>Q-Learning kann aggressiv lernen ohne Risiko von Instabilität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B050"/>
                </a:solidFill>
              </a:defRPr>
            </a:pPr>
            <a:r>
              <a:t>3️⃣ Messbarer Vorteil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2628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595959"/>
                </a:solidFill>
              </a:defRPr>
            </a:pPr>
            <a:r>
              <a:t>92% vs 85% Erfolgsrate + 40-50% schneller Konvergenz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