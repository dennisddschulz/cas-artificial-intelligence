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TEIL B: Hyperparameter-Studie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4F81BD"/>
                </a:solidFill>
              </a:defRPr>
            </a:pPr>
            <a:r>
              <a:t>ε-Scheduling, Learning Rate α, Discount Factor 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Überblick: TEIL B Aufgabenstellung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B1: Epsilon Scheduling (3 Varianten)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Konstantes ε (z.B. ε=0.05)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19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Linearer Decay (ε_start zu ε_end über Zeit)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Exponentieller Decay (e^-kt)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B2: Learning Rate α (SARSA &amp; Q-Learning)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α ∈ {0.05, 0.1, 0.2} für beide Algorithmen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Analyse: Welche Werte → Instabilität?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Wie erkennt man Instabilität in Kurven?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4E79"/>
                </a:solidFill>
              </a:defRPr>
            </a:pPr>
            <a:r>
              <a:t>B3: Discount Factor γ (optional)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γ ∈ {0.90, 0.95, 0.99}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Warum kann kleineres γ "leichter" wirken?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69279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95959"/>
                </a:solidFill>
              </a:defRPr>
            </a:pPr>
            <a:r>
              <a:t>✓ Early vs Late Learning Performance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B1: Epsilon Scheduling Vergleich</a:t>
            </a:r>
          </a:p>
        </p:txBody>
      </p:sp>
      <p:pic>
        <p:nvPicPr>
          <p:cNvPr id="4" name="Picture 3" descr="B1_epsilon_schedu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641945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B1: Interpretation - Epsilon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l">
              <a:defRPr sz="1150" b="0">
                <a:solidFill>
                  <a:srgbClr val="595959"/>
                </a:solidFill>
              </a:defRPr>
            </a:pPr>
            <a:r>
              <a:t>ERGEBNIS: Linearer Decay ist am stabilsten!</a:t>
            </a:r>
            <a:br/>
            <a:br/>
            <a:r>
              <a:t>1. KONSTANTES ε (ε=0.05):</a:t>
            </a:r>
            <a:br/>
            <a:r>
              <a:t>   → Kontinuierliche Exploration, aber suboptimale Policy</a:t>
            </a:r>
            <a:br/>
            <a:r>
              <a:t>   → Return: Mittelmäßig (~5-7)</a:t>
            </a:r>
            <a:br/>
            <a:br/>
            <a:r>
              <a:t>2. LINEARER DECAY (Standard):</a:t>
            </a:r>
            <a:br/>
            <a:r>
              <a:t>   → Gutes Balance zwischen Exploration &amp; Exploitation</a:t>
            </a:r>
            <a:br/>
            <a:r>
              <a:t>   → Return: Gut (~7-9) ✓ BEST</a:t>
            </a:r>
            <a:br/>
            <a:r>
              <a:t>   → Zuverlässigste Performance</a:t>
            </a:r>
            <a:br/>
            <a:br/>
            <a:r>
              <a:t>3. EXPONENTIELLER DECAY (e^-kt):</a:t>
            </a:r>
            <a:br/>
            <a:r>
              <a:t>   → Schneller anfänglicher Decay, dann langsamer</a:t>
            </a:r>
            <a:br/>
            <a:r>
              <a:t>   → Return: Variabel (abhängig von k-Parameter)</a:t>
            </a:r>
            <a:br/>
            <a:br/>
            <a:r>
              <a:t>KEY INSIGHT: Linearer Decay bietet beste Balance zwischen frühem</a:t>
            </a:r>
            <a:br/>
            <a:r>
              <a:t>Explorieren und späterem Fokus auf Exploitation. Daher zuverlässigste Konvergenz!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B2: Learning Rate α Vergleich (SARSA vs Q-Learning)</a:t>
            </a:r>
          </a:p>
        </p:txBody>
      </p:sp>
      <p:pic>
        <p:nvPicPr>
          <p:cNvPr id="4" name="Picture 3" descr="B2_learning_rate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641945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B2: Interpretation - Learning Rate 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l">
              <a:defRPr sz="1150" b="0">
                <a:solidFill>
                  <a:srgbClr val="595959"/>
                </a:solidFill>
              </a:defRPr>
            </a:pPr>
            <a:r>
              <a:t>ERGEBNIS: α=0.1 ist optimal, α=0.2 zeigt deutliche Instabilität!</a:t>
            </a:r>
            <a:br/>
            <a:br/>
            <a:r>
              <a:t>1. α=0.05 (zu klein):</a:t>
            </a:r>
            <a:br/>
            <a:r>
              <a:t>   → Sehr langsame Q-Wert Updates</a:t>
            </a:r>
            <a:br/>
            <a:r>
              <a:t>   → Konvergenzzeit extrem lange</a:t>
            </a:r>
            <a:br/>
            <a:r>
              <a:t>   → Return: Niedrig (~5-6)</a:t>
            </a:r>
            <a:br/>
            <a:br/>
            <a:r>
              <a:t>2. α=0.1 (Standard, OPTIMAL) ✓:</a:t>
            </a:r>
            <a:br/>
            <a:r>
              <a:t>   → Schnelle und stabile Konvergenz</a:t>
            </a:r>
            <a:br/>
            <a:r>
              <a:t>   → SARSA &amp; Q-Learning beide gut</a:t>
            </a:r>
            <a:br/>
            <a:r>
              <a:t>   → Return: Hoch (~8-9)</a:t>
            </a:r>
            <a:br/>
            <a:br/>
            <a:r>
              <a:t>3. α=0.2 (zu groß):</a:t>
            </a:r>
            <a:br/>
            <a:r>
              <a:t>   → INSTABIL: zu aggressive Updates</a:t>
            </a:r>
            <a:br/>
            <a:r>
              <a:t>   → Sichtbar als: Rauschen, Sprünge, Oszillationen</a:t>
            </a:r>
            <a:br/>
            <a:r>
              <a:t>   → Q-Learning besonders instabil → kann divergieren</a:t>
            </a:r>
            <a:br/>
            <a:r>
              <a:t>   → Return: Variabel, oft schlecht</a:t>
            </a:r>
            <a:br/>
            <a:br/>
            <a:r>
              <a:t>INSTABILITÄT erkennt man an: Zitternden/noisy Linien, großen Sprüngen,</a:t>
            </a:r>
            <a:br/>
            <a:r>
              <a:t>oscillierenden Kurven statt glatter Konvergenz!</a:t>
            </a:r>
            <a:b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B3: Discount Factor γ Vergleich</a:t>
            </a:r>
          </a:p>
        </p:txBody>
      </p:sp>
      <p:pic>
        <p:nvPicPr>
          <p:cNvPr id="4" name="Picture 3" descr="B3_discount_ga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64374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B3: Interpretation - Discount Factor 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l">
              <a:defRPr sz="1150" b="0">
                <a:solidFill>
                  <a:srgbClr val="595959"/>
                </a:solidFill>
              </a:defRPr>
            </a:pPr>
            <a:r>
              <a:t>ERGEBNIS: γ=0.99 am besten, aber γ=0.90 lernt anfangs schneller!</a:t>
            </a:r>
            <a:br/>
            <a:br/>
            <a:r>
              <a:t>1. γ=0.90 (kurzfristig - "leichter"):</a:t>
            </a:r>
            <a:br/>
            <a:r>
              <a:t>   → Niedrige Gewichtung zukünftiger Rewards (myopisch)</a:t>
            </a:r>
            <a:br/>
            <a:r>
              <a:t>   → Warum "leichter"? Vereinfaches Problem: ignoriert Fernzukunft</a:t>
            </a:r>
            <a:br/>
            <a:r>
              <a:t>   → Sehr schnell anfangs, aber suboptimale finale Policy</a:t>
            </a:r>
            <a:br/>
            <a:r>
              <a:t>   → Return: Niedrig (~5-6)</a:t>
            </a:r>
            <a:br/>
            <a:br/>
            <a:r>
              <a:t>2. γ=0.95 (Mittelweg):</a:t>
            </a:r>
            <a:br/>
            <a:r>
              <a:t>   → Balance zwischen kurz- und langfristigen Rewards</a:t>
            </a:r>
            <a:br/>
            <a:r>
              <a:t>   → Return: Mittelmäßig (~7-8)</a:t>
            </a:r>
            <a:br/>
            <a:br/>
            <a:r>
              <a:t>3. γ=0.99 (langfristig - BEST) ✓:</a:t>
            </a:r>
            <a:br/>
            <a:r>
              <a:t>   → Hohe Gewichtung zukünftiger Rewards</a:t>
            </a:r>
            <a:br/>
            <a:r>
              <a:t>   → Komplexer (berücksichtigt Fernzukunft)</a:t>
            </a:r>
            <a:br/>
            <a:r>
              <a:t>   → Längere Konvergenzzeit, aber beste finale Performance</a:t>
            </a:r>
            <a:br/>
            <a:r>
              <a:t>   → Return: Höher (~8-9)</a:t>
            </a:r>
            <a:br/>
            <a:br/>
            <a:r>
              <a:t>PARADOX: Kleineres γ ermöglicht schnelleres Lernen, aber führt zu</a:t>
            </a:r>
            <a:br/>
            <a:r>
              <a:t>suboptimaler Lösung. Größeres γ ist "schwerer", da Agent Langzeitkonsequenzen beachten muss.</a:t>
            </a:r>
            <a:b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Zusammenfassung: Hyperparameter Empfehlungen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l">
              <a:defRPr sz="1000" b="0">
                <a:solidFill>
                  <a:srgbClr val="595959"/>
                </a:solidFill>
              </a:defRPr>
            </a:pPr>
            <a:r>
              <a:t>OPTIMALE HYPERPARAMETER FÜR TAXI-V3:</a:t>
            </a:r>
            <a:br/>
            <a:br/>
            <a:r>
              <a:t>┌─────────────────────────────────────────────────────────────┐</a:t>
            </a:r>
            <a:br/>
            <a:r>
              <a:t>│ PARAMETER    │ WERT      │ BEGRÜNDUNG          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├─────────────────────────────────────────────────────────────┤</a:t>
            </a:r>
            <a:br/>
            <a:r>
              <a:t>│ ε-Scheduling │ Linear    │ Bestes Balance, zuverlässigste  │</a:t>
            </a:r>
            <a:br/>
            <a:r>
              <a:t>│ Learning Rate│ α = 0.1   │ Optimal für SARSA &amp; Q-Learning  │</a:t>
            </a:r>
            <a:br/>
            <a:r>
              <a:t>│ Discount     │ γ = 0.99  │ Beste finale Performance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└─────────────────────────────────────────────────────────────┘</a:t>
            </a:r>
            <a:br/>
            <a:br/>
            <a:r>
              <a:t>KEY INSIGHTS:</a:t>
            </a:r>
            <a:br/>
            <a:br/>
            <a:r>
              <a:t>1. EPSILON SCHEDULING:</a:t>
            </a:r>
            <a:br/>
            <a:r>
              <a:t>   • Linearer Decay ist am stabilen</a:t>
            </a:r>
            <a:br/>
            <a:r>
              <a:t>   • Kombiniert gute frühe Exploration mit später Exploitation</a:t>
            </a:r>
            <a:br/>
            <a:r>
              <a:t>   • Konstant und exponentiell weniger zuverlässig</a:t>
            </a:r>
            <a:br/>
            <a:br/>
            <a:r>
              <a:t>2. LEARNING RATE:</a:t>
            </a:r>
            <a:br/>
            <a:r>
              <a:t>   • α=0.1 ist goldene Mitte (Standard!)</a:t>
            </a:r>
            <a:br/>
            <a:r>
              <a:t>   • α=0.2 zeigt Instabilität (Rauschen, Oszillationen)</a:t>
            </a:r>
            <a:br/>
            <a:r>
              <a:t>   • α=0.05 zu konservativ (zu langsam)</a:t>
            </a:r>
            <a:br/>
            <a:br/>
            <a:r>
              <a:t>3. DISCOUNT FACTOR:</a:t>
            </a:r>
            <a:br/>
            <a:r>
              <a:t>   • γ=0.99 beste endgültige Performance</a:t>
            </a:r>
            <a:br/>
            <a:r>
              <a:t>   • Kleineres γ ermöglicht schnelleres Lernen, aber suboptimal</a:t>
            </a:r>
            <a:br/>
            <a:r>
              <a:t>   • Größeres γ komplexer aber langfristig besser</a:t>
            </a:r>
            <a:br/>
            <a:br/>
            <a:r>
              <a:t>FAZIT: Bleibe bei Standard-Hyperparametern α=0.1, γ=0.99, linearer ε!</a:t>
            </a:r>
            <a:b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7772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Zusätzliche Erkenntnisse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097280"/>
            <a:ext cx="85953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/>
            <a:pPr algn="l">
              <a:defRPr sz="1000" b="0">
                <a:solidFill>
                  <a:srgbClr val="595959"/>
                </a:solidFill>
              </a:defRPr>
            </a:pPr>
            <a:r>
              <a:t>TRADE-OFFS BEI HYPERPARAMETER TUNING:</a:t>
            </a:r>
            <a:br/>
            <a:br/>
            <a:r>
              <a:t>1. STABILITÄTS-vs.-LERNGESCHWINDIGKEIT TRADEOFF:</a:t>
            </a:r>
            <a:br/>
            <a:r>
              <a:t>   • α=0.2: Schneller, aber instabil (großes Rauschen)</a:t>
            </a:r>
            <a:br/>
            <a:r>
              <a:t>   • α=0.1: Balanciert, stabil</a:t>
            </a:r>
            <a:br/>
            <a:r>
              <a:t>   • α=0.05: Stabil aber langsam</a:t>
            </a:r>
            <a:br/>
            <a:br/>
            <a:r>
              <a:t>2. EXPLORATION-vs.-EXPLOITATION TRADEOFF:</a:t>
            </a:r>
            <a:br/>
            <a:r>
              <a:t>   • Konstantes ε: Viel Exploration, aber schlechte Konvergenz</a:t>
            </a:r>
            <a:br/>
            <a:r>
              <a:t>   • Linearer ε: Gut balanciert (early Exploration, late Exploitation)</a:t>
            </a:r>
            <a:br/>
            <a:r>
              <a:t>   • Exponentieller ε: Abhängig von Parameter k</a:t>
            </a:r>
            <a:br/>
            <a:br/>
            <a:r>
              <a:t>3. KURZ-vs.-LANGFRISTIGE PERFORMANCE TRADEOFF:</a:t>
            </a:r>
            <a:br/>
            <a:r>
              <a:t>   • γ=0.90: Schneller lernen, schlechtere finale Policy (~5-6)</a:t>
            </a:r>
            <a:br/>
            <a:r>
              <a:t>   • γ=0.95: Mittelweg (~7-8)</a:t>
            </a:r>
            <a:br/>
            <a:r>
              <a:t>   • γ=0.99: Langsamerer Start, beste finale Policy (~8-9)</a:t>
            </a:r>
            <a:br/>
            <a:br/>
            <a:r>
              <a:t>PRAKTISCHE TIPPS:</a:t>
            </a:r>
            <a:br/>
            <a:br/>
            <a:r>
              <a:t>✓ START: Nutze Standard-Hyperparameter</a:t>
            </a:r>
            <a:br/>
            <a:r>
              <a:t>✓ DEBUG INSTABILITÄT: Reduzeiere α wenn zu viel Rauschen</a:t>
            </a:r>
            <a:br/>
            <a:r>
              <a:t>✓ SPEED UP: Erhöhe α vorsichtig (max bis 0.15-0.2)</a:t>
            </a:r>
            <a:br/>
            <a:r>
              <a:t>✓ LANGZEIT: Erhöhe γ für bessere finale Performance</a:t>
            </a:r>
            <a:br/>
            <a:r>
              <a:t>✓ EXPLORATON: Linear Decay meist am besten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