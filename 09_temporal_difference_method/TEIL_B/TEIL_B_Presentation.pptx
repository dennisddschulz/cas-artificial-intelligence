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DA939C-6EBE-40B8-AE3B-64163DB0F8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BD2D80-B664-466F-8A84-2471FD130D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B3C90A-A37E-4212-B767-227304D461C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DE33AD-EA44-4614-9509-28E6DEC942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8BE28E-079A-41AD-B8A5-C8FE0AE8E8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F34303-D6B9-499E-B1ED-926096EFD4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FFDFFF-BB34-4DED-9972-105258EC63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A12D8D-58E3-4707-938A-CB3E894CA1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DA07D8-C4A0-498A-9813-4F17F47A3C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BFF809-5ABC-4A82-80E3-4FC53D86B21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72FC5C-2517-4830-B8B1-856E5AF6DEA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67FBE-6938-418F-8B4E-694DA209717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012918-C4DB-4448-B091-5288B06CC04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10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109800" y="2286000"/>
            <a:ext cx="89244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TEIL B: Hyperparameter-Studie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1024920" y="3840480"/>
            <a:ext cx="70938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800" spc="-1" strike="noStrike">
                <a:solidFill>
                  <a:srgbClr val="4f81bd"/>
                </a:solidFill>
                <a:latin typeface="Calibri"/>
              </a:rPr>
              <a:t>ε-Scheduling, Learning Rate α, Discount Factor γ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598680" y="137160"/>
            <a:ext cx="7488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Überblick: TEIL B Aufgabenstellung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Box 3"/>
          <p:cNvSpPr/>
          <p:nvPr/>
        </p:nvSpPr>
        <p:spPr>
          <a:xfrm>
            <a:off x="457200" y="1097280"/>
            <a:ext cx="8229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1f4e79"/>
                </a:solidFill>
                <a:latin typeface="Calibri"/>
              </a:rPr>
              <a:t>B1: Epsilon Scheduling (3 Varianten)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4"/>
          <p:cNvSpPr/>
          <p:nvPr/>
        </p:nvSpPr>
        <p:spPr>
          <a:xfrm>
            <a:off x="731520" y="155448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Konstantes ε (z.B. ε=0.05)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Box 5"/>
          <p:cNvSpPr/>
          <p:nvPr/>
        </p:nvSpPr>
        <p:spPr>
          <a:xfrm>
            <a:off x="731520" y="187452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Linearer Decay (ε_start zu ε_end über Zeit)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6"/>
          <p:cNvSpPr/>
          <p:nvPr/>
        </p:nvSpPr>
        <p:spPr>
          <a:xfrm>
            <a:off x="731520" y="219456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Exponentieller Decay (e^-kt)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Box 7"/>
          <p:cNvSpPr/>
          <p:nvPr/>
        </p:nvSpPr>
        <p:spPr>
          <a:xfrm>
            <a:off x="457200" y="2834640"/>
            <a:ext cx="8229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1f4e79"/>
                </a:solidFill>
                <a:latin typeface="Calibri"/>
              </a:rPr>
              <a:t>B2: Learning Rate α (SARSA &amp; Q-Learning)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Box 8"/>
          <p:cNvSpPr/>
          <p:nvPr/>
        </p:nvSpPr>
        <p:spPr>
          <a:xfrm>
            <a:off x="731520" y="329184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α ∈ {0.05, 0.1, 0.2} für beide Algorithmen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9"/>
          <p:cNvSpPr/>
          <p:nvPr/>
        </p:nvSpPr>
        <p:spPr>
          <a:xfrm>
            <a:off x="731520" y="361188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Analyse: Welche Werte → Instabilität?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731520" y="393192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Wie erkennt man Instabilität in Kurven?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11"/>
          <p:cNvSpPr/>
          <p:nvPr/>
        </p:nvSpPr>
        <p:spPr>
          <a:xfrm>
            <a:off x="457200" y="4572000"/>
            <a:ext cx="82292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1f4e79"/>
                </a:solidFill>
                <a:latin typeface="Calibri"/>
              </a:rPr>
              <a:t>B3: Discount Factor γ (optional)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Box 12"/>
          <p:cNvSpPr/>
          <p:nvPr/>
        </p:nvSpPr>
        <p:spPr>
          <a:xfrm>
            <a:off x="731520" y="502920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γ ∈ {0.90, 0.95, 0.99}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13"/>
          <p:cNvSpPr/>
          <p:nvPr/>
        </p:nvSpPr>
        <p:spPr>
          <a:xfrm>
            <a:off x="731520" y="534924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Warum kann kleineres γ "leichter" wirken?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14"/>
          <p:cNvSpPr/>
          <p:nvPr/>
        </p:nvSpPr>
        <p:spPr>
          <a:xfrm>
            <a:off x="731520" y="5669280"/>
            <a:ext cx="77720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✓ </a:t>
            </a:r>
            <a:r>
              <a:rPr b="0" lang="en-US" sz="1200" spc="-1" strike="noStrike">
                <a:solidFill>
                  <a:srgbClr val="595959"/>
                </a:solidFill>
                <a:latin typeface="Calibri"/>
              </a:rPr>
              <a:t>Early vs Late Learning Performance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870120" y="137160"/>
            <a:ext cx="69462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B1: Epsilon Scheduling Vergleich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Picture 3" descr="B1_epsilon_scheduling.png"/>
          <p:cNvPicPr/>
          <p:nvPr/>
        </p:nvPicPr>
        <p:blipFill>
          <a:blip r:embed="rId1"/>
          <a:stretch/>
        </p:blipFill>
        <p:spPr>
          <a:xfrm>
            <a:off x="274320" y="868680"/>
            <a:ext cx="8595000" cy="641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220320" y="137160"/>
            <a:ext cx="82461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B1: Interpretation - Epsilon Scheduling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457200" y="1097280"/>
            <a:ext cx="8229240" cy="34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ERGEBNIS: Linearer Decay ist am stabilsten!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1. KONSTANTES ε (ε=0.05):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Kontinuierliche Exploration, aber suboptimale Policy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Mittelmäßig (~5-7)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2. LINEARER DECAY (Standard):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Gutes Balance zwischen Exploration &amp; Exploitation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Gut (~7-9) ✓ BEST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Zuverlässigste Performance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3. EXPONENTIELLER DECAY (e^-kt):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Schneller anfänglicher Decay, dann langsamer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Variabel (abhängig von k-Parameter)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KEY INSIGHT: Linearer Decay bietet beste Balance zwischen frühem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Explorieren und späterem Fokus auf Exploitation. Daher zuverlässigste Konvergenz!</a:t>
            </a:r>
            <a:br>
              <a:rPr sz="1150"/>
            </a:b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-1207800" y="137160"/>
            <a:ext cx="111020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B2: Learning Rate α Vergleich (SARSA vs Q-Learning)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Picture 3" descr="B2_learning_rate_alpha.png"/>
          <p:cNvPicPr/>
          <p:nvPr/>
        </p:nvPicPr>
        <p:blipFill>
          <a:blip r:embed="rId1"/>
          <a:stretch/>
        </p:blipFill>
        <p:spPr>
          <a:xfrm>
            <a:off x="274320" y="868680"/>
            <a:ext cx="8595000" cy="641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530280" y="137160"/>
            <a:ext cx="7625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B2: Interpretation - Learning Rate α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457200" y="1097280"/>
            <a:ext cx="8229240" cy="39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ERGEBNIS: α=0.1 ist optimal, α=0.2 zeigt deutliche Instabilität!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1. α=0.05 (zu klein):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Sehr langsame Q-Wert Updates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Konvergenzzeit extrem lange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Niedrig (~5-6)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2. α=0.1 (Standard, OPTIMAL) ✓: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Schnelle und stabile Konvergenz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SARSA &amp; Q-Learning beide gut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Hoch (~8-9)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3. α=0.2 (zu groß):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INSTABIL: zu aggressive Updates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Sichtbar als: Rauschen, Sprünge, Oszillationen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Q-Learning besonders instabil → kann divergieren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Variabel, oft schlecht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INSTABILITÄT erkennt man an: Zitternden/noisy Linien, großen Sprüngen,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oscillierenden Kurven statt glatter Konvergenz!</a:t>
            </a:r>
            <a:br>
              <a:rPr sz="1150"/>
            </a:b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1020240" y="137160"/>
            <a:ext cx="66459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B3: Discount Factor γ Vergleich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Picture 3" descr="B3_discount_gamma.png"/>
          <p:cNvPicPr/>
          <p:nvPr/>
        </p:nvPicPr>
        <p:blipFill>
          <a:blip r:embed="rId1"/>
          <a:stretch/>
        </p:blipFill>
        <p:spPr>
          <a:xfrm>
            <a:off x="274320" y="868680"/>
            <a:ext cx="8595000" cy="6437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370440" y="137160"/>
            <a:ext cx="79459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B3: Interpretation - Discount Factor γ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457200" y="1097280"/>
            <a:ext cx="8229240" cy="39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ERGEBNIS: γ=0.99 am besten, aber γ=0.90 lernt anfangs schneller!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1. γ=0.90 (kurzfristig - "leichter"):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Niedrige Gewichtung zukünftiger Rewards (myopisch)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Warum "leichter"? Vereinfaches Problem: ignoriert Fernzukunft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Sehr schnell anfangs, aber suboptimale finale Policy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Niedrig (~5-6)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2. γ=0.95 (Mittelweg):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Balance zwischen kurz- und langfristigen Rewards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Mittelmäßig (~7-8)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3. γ=0.99 (langfristig - BEST) ✓: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Hohe Gewichtung zukünftiger Rewards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Komplexer (berücksichtigt Fernzukunft)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Längere Konvergenzzeit, aber beste finale Performance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   → Return: Höher (~8-9)</a:t>
            </a:r>
            <a:br>
              <a:rPr sz="1150"/>
            </a:b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PARADOX: Kleineres γ ermöglicht schnelleres Lernen, aber führt zu</a:t>
            </a:r>
            <a:br>
              <a:rPr sz="1150"/>
            </a:br>
            <a:r>
              <a:rPr b="0" lang="en-US" sz="1150" spc="-1" strike="noStrike">
                <a:solidFill>
                  <a:srgbClr val="595959"/>
                </a:solidFill>
                <a:latin typeface="Calibri"/>
              </a:rPr>
              <a:t>suboptimaler Lösung. Größeres γ ist "schwerer", da Agent Langzeitkonsequenzen beachten muss.</a:t>
            </a:r>
            <a:br>
              <a:rPr sz="1150"/>
            </a:b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-1150560" y="137160"/>
            <a:ext cx="109879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Zusammenfassung: Hyperparameter Empfehlungen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274320" y="1097280"/>
            <a:ext cx="8595000" cy="46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OPTIMALE HYPERPARAMETER FÜR TAXI-V3: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┌─────────────────────────────────────────────────────────────┐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│ PARAMETER    │ WERT      │ BEGRÜNDUNG                       │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├─────────────────────────────────────────────────────────────┤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│ ε-Scheduling │ Linear    │ Bestes Balance, zuverlässigste  │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│ Learning Rate│ α = 0.1   │ Optimal für SARSA &amp; Q-Learning  │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│ Discount     │ γ = 0.99  │ Beste finale Performance        │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└─────────────────────────────────────────────────────────────┘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KEY INSIGHTS: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1. EPSILON SCHEDULING: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Linearer Decay ist am stabilen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Kombiniert gute frühe Exploration mit später Exploitation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Konstant und exponentiell weniger zuverlässig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2. LEARNING RATE: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α=0.1 ist goldene Mitte (Standard!)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α=0.2 zeigt Instabilität (Rauschen, Oszillationen)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α=0.05 zu konservativ (zu langsam)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3. DISCOUNT FACTOR: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γ=0.99 beste endgültige Performance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Kleineres γ ermöglicht schnelleres Lernen, aber suboptimal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Größeres γ komplexer aber langfristig besser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FAZIT: Bleibe bei Standard-Hyperparametern α=0.1, γ=0.99, linearer ε!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9143640" cy="7311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341280" y="137160"/>
            <a:ext cx="80038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Zusätzliche Erkenntnisse &amp; Trade-offs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274320" y="1097280"/>
            <a:ext cx="8595000" cy="40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TRADE-OFFS BEI HYPERPARAMETER TUNING: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1. STABILITÄTS-vs.-LERNGESCHWINDIGKEIT TRADEOFF: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α=0.2: Schneller, aber instabil (großes Rauschen)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α=0.1: Balanciert, stabil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α=0.05: Stabil aber langsam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2. EXPLORATION-vs.-EXPLOITATION TRADEOFF: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Konstantes ε: Viel Exploration, aber schlechte Konvergenz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Linearer ε: Gut balanciert (early Exploration, late Exploitation)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Exponentieller ε: Abhängig von Parameter k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3. KURZ-vs.-LANGFRISTIGE PERFORMANCE TRADEOFF: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γ=0.90: Schneller lernen, schlechtere finale Policy (~5-6)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γ=0.95: Mittelweg (~7-8)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   • γ=0.99: Langsamerer Start, beste finale Policy (~8-9)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PRAKTISCHE TIPPS:</a:t>
            </a:r>
            <a:br>
              <a:rPr sz="1000"/>
            </a:b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✓ START: Nutze Standard-Hyperparameter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✓ DEBUG INSTABILITÄT: Reduzeiere α wenn zu viel Rauschen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✓ SPEED UP: Erhöhe α vorsichtig (max bis 0.15-0.2)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✓ LANGZEIT: Erhöhe γ für bessere finale Performance</a:t>
            </a:r>
            <a:br>
              <a:rPr sz="1000"/>
            </a:br>
            <a:r>
              <a:rPr b="0" lang="en-US" sz="1000" spc="-1" strike="noStrike">
                <a:solidFill>
                  <a:srgbClr val="595959"/>
                </a:solidFill>
                <a:latin typeface="Calibri"/>
              </a:rPr>
              <a:t>✓ EXPLORATON: Linear Decay meist am besten</a:t>
            </a:r>
            <a:br>
              <a:rPr sz="1000"/>
            </a:b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