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Reinforcement Learning Algorithmen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F81BD"/>
                </a:solidFill>
              </a:defRPr>
            </a:pPr>
            <a:r>
              <a:t>On-Policy vs Off-Policy &amp; Monte Carlo vs Temporal Difference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Agenda: Zwei Hauptvergleiche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🎯 PRIORITÄT 1:</a:t>
            </a:r>
            <a:br/>
            <a:br/>
            <a:r>
              <a:t>On-Policy vs Off-Policy</a:t>
            </a:r>
            <a:br/>
            <a:br/>
            <a:r>
              <a:t>• SARSA (On-Policy)</a:t>
            </a:r>
            <a:br/>
            <a:r>
              <a:t>• Q-Learning (Off-Policy)</a:t>
            </a:r>
            <a:br/>
            <a:r>
              <a:t>• Empirischer 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058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🎯 PRIORITÄT 2 (Optional):</a:t>
            </a:r>
            <a:br/>
            <a:br/>
            <a:r>
              <a:t>Monte Carlo vs Temporal Difference</a:t>
            </a:r>
            <a:br/>
            <a:br/>
            <a:r>
              <a:t>• MC: Episode-basiert</a:t>
            </a:r>
            <a:br/>
            <a:r>
              <a:t>• TD: Step-basiert</a:t>
            </a:r>
            <a:br/>
            <a:r>
              <a:t>• Empirische 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</a:defRPr>
            </a:pPr>
            <a:r>
              <a:t>KEY INSIGHT:</a:t>
            </a:r>
            <a:br/>
            <a:r>
              <a:t>Der entscheidende Unterschied liegt in der TARGET BESTIMMUNG!</a:t>
            </a:r>
            <a:br/>
            <a:r>
              <a:t>Was glaubt der Agent über die Zukunft?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Der Kern: Target Bestimmung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SARSA (On-Policy)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TARGET = r + γ·Q(s', a')</a:t>
            </a:r>
            <a:br/>
            <a:br/>
            <a:r>
              <a:t>where a' ~ π(s')</a:t>
            </a:r>
            <a:br/>
            <a:br/>
            <a:r>
              <a:t>(ACTUAL next action</a:t>
            </a:r>
            <a:br/>
            <a:r>
              <a:t>from policy)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143C"/>
                </a:solidFill>
              </a:defRPr>
            </a:pPr>
            <a:r>
              <a:t>Q-Learning (Off-Policy)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TARGET = r + γ·max Q(s', ·)</a:t>
            </a:r>
            <a:br/>
            <a:br/>
            <a:r>
              <a:t>where · = best action</a:t>
            </a:r>
            <a:br/>
            <a:br/>
            <a:r>
              <a:t>(OPTIMAL action</a:t>
            </a:r>
            <a:br/>
            <a:r>
              <a:t>regardless of policy)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💡 DER UNTERSCHIED:</a:t>
            </a:r>
            <a:br/>
            <a:br/>
            <a:r>
              <a:t>SARSA fragt: "Was wird der Agent TATSÄCHLICH tun?"</a:t>
            </a:r>
            <a:br/>
            <a:r>
              <a:t>Q-Learning fragt: "Was wäre OPTIMAL?"</a:t>
            </a:r>
            <a:br/>
            <a:br/>
            <a:r>
              <a:t>→ SARSA ist KONSERVATIV (vorsichtig mit Risiken)</a:t>
            </a:r>
            <a:br/>
            <a:r>
              <a:t>→ Q-Learning ist AGGRESSIV (optimistic, sucht optimale Policy)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PRIO 1: SARSA vs Q-Learning - Empirische Resultate</a:t>
            </a:r>
          </a:p>
        </p:txBody>
      </p:sp>
      <p:pic>
        <p:nvPicPr>
          <p:cNvPr id="4" name="Picture 3" descr="PRIO1_SARSA_vs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8778240" cy="4819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PRIO 1: Empirische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595959"/>
                </a:solidFill>
              </a:defRPr>
            </a:pPr>
            <a:r>
              <a:t>BEOBACHTUNGEN AUS DEN DIAGRAMMEN:</a:t>
            </a:r>
            <a:br/>
            <a:br/>
            <a:r>
              <a:t>1. LEARNING CURVES (Return):</a:t>
            </a:r>
            <a:br/>
            <a:r>
              <a:t>   • Q-Learning konvergiert SCHNELLER (aggressive Off-Policy Updates)</a:t>
            </a:r>
            <a:br/>
            <a:r>
              <a:t>   • SARSA braucht länger aber ist STABILER (conservative On-Policy)</a:t>
            </a:r>
            <a:br/>
            <a:r>
              <a:t>   • Endgültige Performance: ähnlich (~-5 bis 0)</a:t>
            </a:r>
            <a:br/>
            <a:br/>
            <a:r>
              <a:t>2. EFFIZIENZ (Episode Length):</a:t>
            </a:r>
            <a:br/>
            <a:r>
              <a:t>   • Q-Learning schafft kürzere Episodes (schnellere Konvergenz zu besserer Policy)</a:t>
            </a:r>
            <a:br/>
            <a:r>
              <a:t>   • SARSA längere Episodes (vorsichtige Explorationsstrategie)</a:t>
            </a:r>
            <a:br/>
            <a:r>
              <a:t>   • Unterschied wird kleiner am Ende</a:t>
            </a:r>
            <a:br/>
            <a:br/>
            <a:r>
              <a:t>3. TD ERROR DISTRIBUTION:</a:t>
            </a:r>
            <a:br/>
            <a:r>
              <a:t>   • Q-Learning: GRÖSSERE TD-Fehler (aggressive, overoptimistic Updates)</a:t>
            </a:r>
            <a:br/>
            <a:r>
              <a:t>   • SARSA: KLEINERE TD-Fehler (vorsichtige, realistische Updates)</a:t>
            </a:r>
            <a:br/>
            <a:r>
              <a:t>   • KEY INSIGHT: Grösserer Fehler ≠ schlechtere Performance!</a:t>
            </a:r>
            <a:br/>
            <a:br/>
            <a:r>
              <a:t>4. EARLY vs LATE LEARNING:</a:t>
            </a:r>
            <a:br/>
            <a:r>
              <a:t>   • Q-Learning: schneller anfangs</a:t>
            </a:r>
            <a:br/>
            <a:r>
              <a:t>   • SARSA: stabiler über Zeit</a:t>
            </a:r>
            <a:br/>
            <a:r>
              <a:t>   • Tradeoff zwischen Speed und Stability</a:t>
            </a:r>
            <a:br/>
            <a:br/>
            <a:r>
              <a:t>5. CONVERGENCE SPEED:</a:t>
            </a:r>
            <a:br/>
            <a:r>
              <a:t>   • Q-Learning erreicht Schwellenwert deutlich FRÜHER</a:t>
            </a:r>
            <a:br/>
            <a:r>
              <a:t>   • SARSA braucht mehr Episoden aber konvergiert zu stabilerem Wert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Verhalten in der Umgebung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595959"/>
                </a:solidFill>
              </a:defRPr>
            </a:pPr>
            <a:r>
              <a:t>WIE UNTERSCHEIDEN SICH SARSA UND Q-LEARNING IN DER PRAXIS?</a:t>
            </a:r>
            <a:br/>
            <a:br/>
            <a:r>
              <a:t>SARSA (On-Policy) - Risk-Aware:</a:t>
            </a:r>
            <a:br/>
            <a:r>
              <a:t>  → Exploriert vorsichtig, achtet auf potenzielle Gefahren</a:t>
            </a:r>
            <a:br/>
            <a:r>
              <a:t>  → Wenn Agent zufällig in gefährliche Situation gerät, lernt SARSA das</a:t>
            </a:r>
            <a:br/>
            <a:r>
              <a:t>  → Policy vermeidet Zustände mit hohem Explorations-Risiko</a:t>
            </a:r>
            <a:br/>
            <a:r>
              <a:t>  → Beispiel: Roboter vor Klippe → sehr vorsichtig am Rand</a:t>
            </a:r>
            <a:br/>
            <a:r>
              <a:t>  → Resultat: Sichere, stabile, aber nicht optimale Policy</a:t>
            </a:r>
            <a:br/>
            <a:br/>
            <a:r>
              <a:t>Q-Learning (Off-Policy) - Optimal-Seeking:</a:t>
            </a:r>
            <a:br/>
            <a:r>
              <a:t>  → Exploriert aggressiv, sucht beste mögliche Policy</a:t>
            </a:r>
            <a:br/>
            <a:r>
              <a:t>  → Ignoriert dass Agent exploriert, bootet von bester Action</a:t>
            </a:r>
            <a:br/>
            <a:r>
              <a:t>  → Policy kann Risiken eingehen für Optimalität</a:t>
            </a:r>
            <a:br/>
            <a:r>
              <a:t>  → Beispiel: Roboter vor Klippe → lernt optimale Route, auch wenn explorativ</a:t>
            </a:r>
            <a:br/>
            <a:r>
              <a:t>  → Resultat: Optimale, aber potenziell risikoreiche Policy</a:t>
            </a:r>
            <a:br/>
            <a:br/>
            <a:r>
              <a:t>PRAKTISCHES BEISPIEL - Cliff Walking:</a:t>
            </a:r>
            <a:br/>
            <a:r>
              <a:t>  SARSA sieht:  "Agent fällt 20% der Zeit runter → das ist schlecht"</a:t>
            </a:r>
            <a:br/>
            <a:r>
              <a:t>               → meidet nahe an Klippe</a:t>
            </a:r>
            <a:br/>
            <a:r>
              <a:t>  </a:t>
            </a:r>
            <a:br/>
            <a:r>
              <a:t>  Q-Learning:   "Beste Aktion meidet Klippe → das ist der Weg"</a:t>
            </a:r>
            <a:br/>
            <a:r>
              <a:t>               → lernt optimal, ignoriert dass Exploration runterfallen könnte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PRIO 2: Monte Carlo vs Temporal Difference - Unterschiede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050" b="0">
                <a:solidFill>
                  <a:srgbClr val="595959"/>
                </a:solidFill>
              </a:defRPr>
            </a:pPr>
            <a:r>
              <a:t>UPDATE MECHANISMUS - Das ist der fundamentale Unterschied!</a:t>
            </a:r>
            <a:br/>
            <a:br/>
            <a:r>
              <a:t>MONTE CARLO (Batch Updates):</a:t>
            </a:r>
            <a:br/>
            <a:r>
              <a:t>  ┌─────────────────────────────────────┐</a:t>
            </a:r>
            <a:br/>
            <a:r>
              <a:t>  │ Episode läuft: s₀→s₁→s₂→...→sₜ    │</a:t>
            </a:r>
            <a:br/>
            <a:r>
              <a:t>  │ Rewards:       r₁  r₂  ...  rₜ     │</a:t>
            </a:r>
            <a:br/>
            <a:r>
              <a:t>  │ Warte bis EPISODE ENDET!            │</a:t>
            </a:r>
            <a:br/>
            <a:r>
              <a:t>  │ Berechne: G = r₁ + γr₂ + γ²r₃ +...│</a:t>
            </a:r>
            <a:br/>
            <a:r>
              <a:t>  │ UPDATE: Q(s,a) += α(G - Q(s,a))   │</a:t>
            </a:r>
            <a:br/>
            <a:r>
              <a:t>  └─────────────────────────────────────┘</a:t>
            </a:r>
            <a:br/>
            <a:r>
              <a:t>  </a:t>
            </a:r>
            <a:br/>
            <a:r>
              <a:t>  Charakteristiken:</a:t>
            </a:r>
            <a:br/>
            <a:r>
              <a:t>  ✓ Unbiased (verwendet true return)</a:t>
            </a:r>
            <a:br/>
            <a:r>
              <a:t>  ✗ High Variance (variiert mit Episoden)</a:t>
            </a:r>
            <a:br/>
            <a:r>
              <a:t>  ✗ Langsam (1 Update pro Episode)</a:t>
            </a:r>
            <a:br/>
            <a:r>
              <a:t>  ✓ Gut für Evaluation</a:t>
            </a:r>
            <a:br/>
            <a:br/>
            <a:r>
              <a:t>TEMPORAL DIFFERENCE (Online Updates):</a:t>
            </a:r>
            <a:br/>
            <a:r>
              <a:t>  ┌──────────────────────────────────────┐</a:t>
            </a:r>
            <a:br/>
            <a:r>
              <a:t>  │ Nach JEDEM SCHRITT:                 │</a:t>
            </a:r>
            <a:br/>
            <a:r>
              <a:t>  │ UPDATE: Q(s,a) += α(r + γV(s') - Q) │</a:t>
            </a:r>
            <a:br/>
            <a:r>
              <a:t>  │ V(s') wird als Bootstrap verwendet  │</a:t>
            </a:r>
            <a:br/>
            <a:r>
              <a:t>  │ Nicht auf echtem Return basierend   │</a:t>
            </a:r>
            <a:br/>
            <a:r>
              <a:t>  └──────────────────────────────────────┘</a:t>
            </a:r>
            <a:br/>
            <a:r>
              <a:t>  </a:t>
            </a:r>
            <a:br/>
            <a:r>
              <a:t>  Charakteristiken:</a:t>
            </a:r>
            <a:br/>
            <a:r>
              <a:t>  ✗ Biased (nutzt Schätzung V(s'))</a:t>
            </a:r>
            <a:br/>
            <a:r>
              <a:t>  ✓ Low Variance (kleine Updates)</a:t>
            </a:r>
            <a:br/>
            <a:r>
              <a:t>  ✓ Schnell (viele Updates pro Episode)</a:t>
            </a:r>
            <a:br/>
            <a:r>
              <a:t>  ✓ Gut für Online Lernen</a:t>
            </a:r>
            <a:br/>
            <a:br/>
            <a:r>
              <a:t>KEY: MC wartet, TD aktualisiert sofort!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PRIO 2: Monte Carlo vs TD - Empirische Resultate</a:t>
            </a:r>
          </a:p>
        </p:txBody>
      </p:sp>
      <p:pic>
        <p:nvPicPr>
          <p:cNvPr id="4" name="Picture 3" descr="PRIO2_MC_vs_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8778240" cy="4908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PRIO 2: Empirische Analyse MC vs 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595959"/>
                </a:solidFill>
              </a:defRPr>
            </a:pPr>
            <a:r>
              <a:t>BEOBACHTUNGEN AUS DEN DIAGRAMMEN:</a:t>
            </a:r>
            <a:br/>
            <a:br/>
            <a:r>
              <a:t>1. LEARNING CURVES (MC vs TD):</a:t>
            </a:r>
            <a:br/>
            <a:r>
              <a:t>   • TD (Q-Learning) konvergiert VIEL SCHNELLER</a:t>
            </a:r>
            <a:br/>
            <a:r>
              <a:t>   • MC braucht deutlich mehr Episodes</a:t>
            </a:r>
            <a:br/>
            <a:r>
              <a:t>   • Grund: TD aktualisiert nach JEDEM Schritt, MC nur nach ganzer Episode</a:t>
            </a:r>
            <a:br/>
            <a:br/>
            <a:r>
              <a:t>2. SAMPLE EFFICIENCY:</a:t>
            </a:r>
            <a:br/>
            <a:r>
              <a:t>   • TD ist DEUTLICH effizienter</a:t>
            </a:r>
            <a:br/>
            <a:r>
              <a:t>   • MC: viele Steps nötig für wenig Updates</a:t>
            </a:r>
            <a:br/>
            <a:r>
              <a:t>   • TD: jeder Step produziert ein Update</a:t>
            </a:r>
            <a:br/>
            <a:br/>
            <a:r>
              <a:t>3. EPISODE LENGTH:</a:t>
            </a:r>
            <a:br/>
            <a:r>
              <a:t>   • Ähnlich zwischen MC und TD</a:t>
            </a:r>
            <a:br/>
            <a:r>
              <a:t>   • Unterschied ist in der Update-Frequenz, nicht in Exploration</a:t>
            </a:r>
            <a:br/>
            <a:br/>
            <a:r>
              <a:t>4. CONVERGENCE SPEED:</a:t>
            </a:r>
            <a:br/>
            <a:r>
              <a:t>   • TD erreicht Return-Ziele deutlich FRÜHER (ca. 3-5x schneller)</a:t>
            </a:r>
            <a:br/>
            <a:r>
              <a:t>   • MC braucht viel länger, besonders in Taxi-v3</a:t>
            </a:r>
            <a:br/>
            <a:br/>
            <a:r>
              <a:t>5. PRAKTISCHE IMPLIKATION:</a:t>
            </a:r>
            <a:br/>
            <a:r>
              <a:t>   • TD (SARSA, Q-Learning) → verwende online, schnelle Anpassung</a:t>
            </a:r>
            <a:br/>
            <a:r>
              <a:t>   • MC → verwende wenn Episoden kurz/bekannt sind, für Evaluation</a:t>
            </a:r>
            <a:br/>
            <a:br/>
            <a:r>
              <a:t>ZUSAMMENFASSUNG:</a:t>
            </a:r>
            <a:br/>
            <a:r>
              <a:t>TD ist online und effizient → STANDARD wahl für RL</a:t>
            </a:r>
            <a:br/>
            <a:r>
              <a:t>MC ist unbiased und stabil → GUT FÜR THEORIE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Synthesevergleich: Alle 4 Algorithmen</a:t>
            </a:r>
          </a:p>
        </p:txBody>
      </p:sp>
      <p:pic>
        <p:nvPicPr>
          <p:cNvPr id="4" name="Picture 3" descr="Synthesis_All_Algorith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8778240" cy="64876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Zusammenfassung &amp; Empfehlungen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595959"/>
                </a:solidFill>
              </a:defRPr>
            </a:pPr>
            <a:r>
              <a:t>KERNERKENNTNISSE:</a:t>
            </a:r>
            <a:br/>
            <a:br/>
            <a:r>
              <a:t>🎯 PRIO 1: ON-POLICY vs OFF-POLICY</a:t>
            </a:r>
            <a:br/>
            <a:r>
              <a:t>   SARSA (On-Policy):</a:t>
            </a:r>
            <a:br/>
            <a:r>
              <a:t>     • Lernt unter AKTUELLER Policy</a:t>
            </a:r>
            <a:br/>
            <a:r>
              <a:t>     • Vorsichtig mit Explorations-Risiken</a:t>
            </a:r>
            <a:br/>
            <a:r>
              <a:t>     • Kleinere TD-Fehler, stabiler</a:t>
            </a:r>
            <a:br/>
            <a:r>
              <a:t>     • Langsamer aber sicherer</a:t>
            </a:r>
            <a:br/>
            <a:r>
              <a:t>   </a:t>
            </a:r>
            <a:br/>
            <a:r>
              <a:t>   Q-Learning (Off-Policy):</a:t>
            </a:r>
            <a:br/>
            <a:r>
              <a:t>     • Lernt OPTIMALE Policy</a:t>
            </a:r>
            <a:br/>
            <a:r>
              <a:t>     • Ignoriert Explorations-Risiken</a:t>
            </a:r>
            <a:br/>
            <a:r>
              <a:t>     • Grössere TD-Fehler, aggressiver</a:t>
            </a:r>
            <a:br/>
            <a:r>
              <a:t>     • Schneller aber risikoreicher</a:t>
            </a:r>
            <a:br/>
            <a:r>
              <a:t>   </a:t>
            </a:r>
            <a:br/>
            <a:r>
              <a:t>   PRAKTISCH: SARSA für Roboter/Safety | Q-Learning für Games/Optimalität</a:t>
            </a:r>
            <a:br/>
            <a:br/>
            <a:r>
              <a:t>🎯 PRIO 2: MC vs TD</a:t>
            </a:r>
            <a:br/>
            <a:r>
              <a:t>   Monte Carlo:</a:t>
            </a:r>
            <a:br/>
            <a:r>
              <a:t>     • Episode-weise Updates (Batch)</a:t>
            </a:r>
            <a:br/>
            <a:r>
              <a:t>     • Unbiased, High Variance</a:t>
            </a:r>
            <a:br/>
            <a:r>
              <a:t>     • Langsam: 1 Update/Episode</a:t>
            </a:r>
            <a:br/>
            <a:r>
              <a:t>   </a:t>
            </a:r>
            <a:br/>
            <a:r>
              <a:t>   Temporal Difference:</a:t>
            </a:r>
            <a:br/>
            <a:r>
              <a:t>     • Step-weise Updates (Online)</a:t>
            </a:r>
            <a:br/>
            <a:r>
              <a:t>     • Biased, Low Variance</a:t>
            </a:r>
            <a:br/>
            <a:r>
              <a:t>     • Schnell: viele Updates/Episode</a:t>
            </a:r>
            <a:br/>
            <a:r>
              <a:t>   </a:t>
            </a:r>
            <a:br/>
            <a:r>
              <a:t>   PRAKTISCH: TD ist Standard-Wahl für RL (schneller &amp; effizienter)</a:t>
            </a:r>
            <a:br/>
            <a:br/>
            <a:r>
              <a:t>🎯 KEY INSIGHT:</a:t>
            </a:r>
            <a:br/>
            <a:r>
              <a:t>   Der KERN-UNTERSCHIED liegt in TARGET BESTIMMUNG:</a:t>
            </a:r>
            <a:br/>
            <a:r>
              <a:t>   • Was wird tatsächlich passieren? (SARSA)</a:t>
            </a:r>
            <a:br/>
            <a:r>
              <a:t>   • Was ist optimal? (Q-Learning)</a:t>
            </a:r>
            <a:br/>
            <a:r>
              <a:t>   • Gesamter Episode? (MC)</a:t>
            </a:r>
            <a:br/>
            <a:r>
              <a:t>   • Nächster Schritt? (TD)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